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84" r:id="rId3"/>
    <p:sldId id="269" r:id="rId4"/>
    <p:sldId id="295" r:id="rId5"/>
    <p:sldId id="285" r:id="rId6"/>
    <p:sldId id="296" r:id="rId7"/>
    <p:sldId id="298" r:id="rId8"/>
    <p:sldId id="299" r:id="rId9"/>
    <p:sldId id="297" r:id="rId10"/>
    <p:sldId id="300" r:id="rId11"/>
    <p:sldId id="286" r:id="rId12"/>
    <p:sldId id="287" r:id="rId13"/>
    <p:sldId id="301" r:id="rId14"/>
    <p:sldId id="294" r:id="rId15"/>
    <p:sldId id="288" r:id="rId16"/>
    <p:sldId id="302" r:id="rId17"/>
    <p:sldId id="30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516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920" autoAdjust="0"/>
  </p:normalViewPr>
  <p:slideViewPr>
    <p:cSldViewPr snapToGrid="0">
      <p:cViewPr varScale="1">
        <p:scale>
          <a:sx n="64" d="100"/>
          <a:sy n="64" d="100"/>
        </p:scale>
        <p:origin x="67" y="3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B97EB-06EE-446C-95A5-DE326E67427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1916B-C036-4D36-AD95-0958176DD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67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1916B-C036-4D36-AD95-0958176DD0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90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41916B-C036-4D36-AD95-0958176DD0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20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1916B-C036-4D36-AD95-0958176DD0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41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1916B-C036-4D36-AD95-0958176DD0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41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1916B-C036-4D36-AD95-0958176DD0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16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1916B-C036-4D36-AD95-0958176DD0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72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1916B-C036-4D36-AD95-0958176DD0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03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F6BB-A20A-4327-957A-F62C0152B041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9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14" y="365126"/>
            <a:ext cx="6982736" cy="946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70" y="1431235"/>
            <a:ext cx="8325016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D9F5F-53FA-482B-AB37-09C0C51AE109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8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C19F0-1FB7-4AE0-896E-2777B6C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1A712-EDB7-40AC-82A3-56B13AD35DCB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1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E653-0687-49AE-A82B-61AD90EEDCEA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9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652" y="365126"/>
            <a:ext cx="6971889" cy="959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E5A9-8516-4D2E-B7D3-5F9C96E6AC5F}" type="datetime1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1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222E-906E-422A-A903-E98A694A1638}" type="datetime1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52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889-A93F-406E-9BCD-BA5001C724A4}" type="datetime1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34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D129-78E9-4AF5-89EF-D38EBCD64564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8A953-CD7D-4914-ABE5-4BA8E1CB4EB4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9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09E3-80C3-426F-BBA6-04217970F3F5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22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88B5B-2D8D-4375-A067-191889F260A0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8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14" y="365126"/>
            <a:ext cx="6982736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408" y="1447137"/>
            <a:ext cx="8091943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38243" y="6520441"/>
            <a:ext cx="1147807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B8622-D05B-4703-A5B7-A71C4A774401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528987"/>
            <a:ext cx="30861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528987"/>
            <a:ext cx="20574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DEB95-5238-4E99-AF16-96D4A1903F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85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516831" y="1429142"/>
            <a:ext cx="8733581" cy="1526477"/>
          </a:xfrm>
        </p:spPr>
        <p:txBody>
          <a:bodyPr>
            <a:noAutofit/>
          </a:bodyPr>
          <a:lstStyle/>
          <a:p>
            <a:pPr>
              <a:lnSpc>
                <a:spcPts val="12740"/>
              </a:lnSpc>
            </a:pPr>
            <a:r>
              <a:rPr lang="en-US" sz="4400" b="1" dirty="0" smtClean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FUNDAMENTAL PROJECT 1</a:t>
            </a:r>
            <a:endParaRPr lang="en-US" sz="4400" b="1" dirty="0">
              <a:solidFill>
                <a:srgbClr val="FF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1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22635" y="3172656"/>
            <a:ext cx="78927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Topic: Design and Implementation of a Book Introduction Website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2663" y="5328658"/>
            <a:ext cx="496904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Student’s Full Name: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Nguyễn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Thị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Trang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ID: 25CEB061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Class: 25CE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Major: Computer Engineering Technology </a:t>
            </a:r>
          </a:p>
        </p:txBody>
      </p:sp>
    </p:spTree>
    <p:extLst>
      <p:ext uri="{BB962C8B-B14F-4D97-AF65-F5344CB8AC3E}">
        <p14:creationId xmlns:p14="http://schemas.microsoft.com/office/powerpoint/2010/main" val="415034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defTabSz="914400">
              <a:spcBef>
                <a:spcPts val="1000"/>
              </a:spcBef>
            </a:pPr>
            <a:r>
              <a:rPr lang="en-US" sz="4400" b="1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OPERATING SYSTEMS</a:t>
            </a:r>
            <a:endParaRPr lang="en-US" sz="4400" b="1" dirty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70" y="1311966"/>
            <a:ext cx="8325016" cy="4985467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Topic Selection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 of the </a:t>
            </a:r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 and Design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Used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Development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4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4136" y="342431"/>
            <a:ext cx="7200900" cy="857250"/>
          </a:xfrm>
        </p:spPr>
        <p:txBody>
          <a:bodyPr>
            <a:normAutofit fontScale="90000"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Topic Selection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6836D-FCAE-AB6E-FB00-A8AAE3E82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75" y="1431235"/>
            <a:ext cx="8325016" cy="4866198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15206" y="1930703"/>
            <a:ext cx="790014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Digitalization: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Vietnamese literature goes online.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Limitations: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Websites lack depth &amp; focus.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Issues: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clear filters by author/genre/period.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Youth Demand: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Young readers search via Internet. </a:t>
            </a:r>
          </a:p>
        </p:txBody>
      </p:sp>
    </p:spTree>
    <p:extLst>
      <p:ext uri="{BB962C8B-B14F-4D97-AF65-F5344CB8AC3E}">
        <p14:creationId xmlns:p14="http://schemas.microsoft.com/office/powerpoint/2010/main" val="80946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E8D5B-7520-A900-2970-502639E6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II.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F64E-07D4-7D3D-FB07-5EE4FE1F4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191" y="1683898"/>
            <a:ext cx="5490167" cy="38265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/>
              <a:t>Research Objectives</a:t>
            </a:r>
          </a:p>
          <a:p>
            <a:r>
              <a:rPr lang="en-GB" sz="2400" dirty="0"/>
              <a:t>Design a user-friendly interface</a:t>
            </a:r>
          </a:p>
          <a:p>
            <a:r>
              <a:rPr lang="en-GB" sz="2400" dirty="0" smtClean="0"/>
              <a:t>Develop </a:t>
            </a:r>
            <a:r>
              <a:rPr lang="en-GB" sz="2400" dirty="0"/>
              <a:t>search and filtering functions</a:t>
            </a:r>
          </a:p>
          <a:p>
            <a:r>
              <a:rPr lang="en-GB" sz="2400" dirty="0"/>
              <a:t>Create a content management system</a:t>
            </a:r>
          </a:p>
          <a:p>
            <a:r>
              <a:rPr lang="en-GB" sz="2400" dirty="0"/>
              <a:t>Deploy the website in a real environment</a:t>
            </a:r>
          </a:p>
          <a:p>
            <a:pPr marL="0" indent="0">
              <a:buNone/>
            </a:pPr>
            <a:r>
              <a:rPr lang="en-GB" sz="2400" b="1" dirty="0"/>
              <a:t>Research Subjects and Scope</a:t>
            </a:r>
          </a:p>
          <a:p>
            <a:r>
              <a:rPr lang="en-GB" sz="2400" dirty="0"/>
              <a:t>Subjects: Readers, pupils, students</a:t>
            </a:r>
          </a:p>
          <a:p>
            <a:r>
              <a:rPr lang="en-GB" sz="2400" dirty="0"/>
              <a:t>Scope: Vietnamese literature books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ED5F0-49AD-8B06-85EF-EC402AA9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3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D3E2-6D21-9BF2-B1AA-02593278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14" y="292936"/>
            <a:ext cx="6372133" cy="94684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III. Main 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the System</a:t>
            </a:r>
            <a:endParaRPr lang="fr-F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843F7-54CD-0318-8647-D528DBB5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a) Homepage</a:t>
            </a:r>
          </a:p>
          <a:p>
            <a:r>
              <a:rPr lang="en-GB" b="1" dirty="0"/>
              <a:t>Shows latest &amp; featured books by category</a:t>
            </a:r>
          </a:p>
          <a:p>
            <a:r>
              <a:rPr lang="en-GB" b="1" dirty="0"/>
              <a:t>Layout: banner, navigation menu, grid cards</a:t>
            </a:r>
          </a:p>
        </p:txBody>
      </p:sp>
      <p:sp>
        <p:nvSpPr>
          <p:cNvPr id="8" name="Freeform 7"/>
          <p:cNvSpPr/>
          <p:nvPr/>
        </p:nvSpPr>
        <p:spPr>
          <a:xfrm>
            <a:off x="925859" y="2713481"/>
            <a:ext cx="7332037" cy="3422624"/>
          </a:xfrm>
          <a:custGeom>
            <a:avLst/>
            <a:gdLst/>
            <a:ahLst/>
            <a:cxnLst/>
            <a:rect l="l" t="t" r="r" b="b"/>
            <a:pathLst>
              <a:path w="12309422" h="5831589">
                <a:moveTo>
                  <a:pt x="0" y="0"/>
                </a:moveTo>
                <a:lnTo>
                  <a:pt x="12309423" y="0"/>
                </a:lnTo>
                <a:lnTo>
                  <a:pt x="12309423" y="5831589"/>
                </a:lnTo>
                <a:lnTo>
                  <a:pt x="0" y="5831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101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D3E2-6D21-9BF2-B1AA-02593278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340" y="484395"/>
            <a:ext cx="6311976" cy="94684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Main Functions of the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843F7-54CD-0318-8647-D528DBB5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smtClean="0"/>
              <a:t>b) Author </a:t>
            </a:r>
            <a:r>
              <a:rPr lang="en-GB" b="1" dirty="0"/>
              <a:t>Page</a:t>
            </a:r>
          </a:p>
          <a:p>
            <a:r>
              <a:rPr lang="en-GB" b="1" dirty="0"/>
              <a:t>Grid layout: 3 columns, 12 cards</a:t>
            </a:r>
          </a:p>
          <a:p>
            <a:r>
              <a:rPr lang="en-GB" b="1" dirty="0"/>
              <a:t>Each card: round avatar + basic info (name, years)</a:t>
            </a:r>
          </a:p>
        </p:txBody>
      </p:sp>
      <p:sp>
        <p:nvSpPr>
          <p:cNvPr id="5" name="Freeform 7"/>
          <p:cNvSpPr/>
          <p:nvPr/>
        </p:nvSpPr>
        <p:spPr>
          <a:xfrm>
            <a:off x="796830" y="2718091"/>
            <a:ext cx="7590096" cy="3579342"/>
          </a:xfrm>
          <a:custGeom>
            <a:avLst/>
            <a:gdLst/>
            <a:ahLst/>
            <a:cxnLst/>
            <a:rect l="l" t="t" r="r" b="b"/>
            <a:pathLst>
              <a:path w="11301259" h="4845415">
                <a:moveTo>
                  <a:pt x="0" y="0"/>
                </a:moveTo>
                <a:lnTo>
                  <a:pt x="11301258" y="0"/>
                </a:lnTo>
                <a:lnTo>
                  <a:pt x="11301258" y="4845415"/>
                </a:lnTo>
                <a:lnTo>
                  <a:pt x="0" y="4845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4243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D3E2-6D21-9BF2-B1AA-02593278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14" y="292936"/>
            <a:ext cx="6360102" cy="94684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Main Functions of the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843F7-54CD-0318-8647-D528DBB52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117" y="1419726"/>
            <a:ext cx="8341651" cy="1949116"/>
          </a:xfrm>
        </p:spPr>
        <p:txBody>
          <a:bodyPr/>
          <a:lstStyle/>
          <a:p>
            <a:pPr marL="0" indent="0">
              <a:buNone/>
            </a:pPr>
            <a:r>
              <a:rPr lang="en-GB" b="1" dirty="0" smtClean="0"/>
              <a:t>c</a:t>
            </a:r>
            <a:r>
              <a:rPr lang="en-GB" b="1" dirty="0"/>
              <a:t>) Category Page</a:t>
            </a:r>
          </a:p>
          <a:p>
            <a:r>
              <a:rPr lang="en-GB" b="1" dirty="0"/>
              <a:t>Layout: 2 columns (sidebar + main content)</a:t>
            </a:r>
          </a:p>
          <a:p>
            <a:r>
              <a:rPr lang="en-GB" b="1" dirty="0"/>
              <a:t>Sidebar: checkboxes from </a:t>
            </a:r>
            <a:r>
              <a:rPr lang="en-GB" b="1" i="1" dirty="0"/>
              <a:t>CATEGORIES_DATA</a:t>
            </a:r>
            <a:endParaRPr lang="en-GB" b="1" dirty="0"/>
          </a:p>
          <a:p>
            <a:r>
              <a:rPr lang="en-GB" b="1" dirty="0"/>
              <a:t>Main: results display</a:t>
            </a:r>
          </a:p>
          <a:p>
            <a:r>
              <a:rPr lang="en-GB" b="1" dirty="0"/>
              <a:t>Toolbar: result count + sort dropdown (Newest, Oldest, A–Z, Top rated)</a:t>
            </a:r>
          </a:p>
        </p:txBody>
      </p:sp>
      <p:sp>
        <p:nvSpPr>
          <p:cNvPr id="5" name="Freeform 7"/>
          <p:cNvSpPr/>
          <p:nvPr/>
        </p:nvSpPr>
        <p:spPr>
          <a:xfrm>
            <a:off x="1078841" y="3368842"/>
            <a:ext cx="6633401" cy="2947737"/>
          </a:xfrm>
          <a:custGeom>
            <a:avLst/>
            <a:gdLst/>
            <a:ahLst/>
            <a:cxnLst/>
            <a:rect l="l" t="t" r="r" b="b"/>
            <a:pathLst>
              <a:path w="13332696" h="6351424">
                <a:moveTo>
                  <a:pt x="0" y="0"/>
                </a:moveTo>
                <a:lnTo>
                  <a:pt x="13332696" y="0"/>
                </a:lnTo>
                <a:lnTo>
                  <a:pt x="13332696" y="6351424"/>
                </a:lnTo>
                <a:lnTo>
                  <a:pt x="0" y="6351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21" r="-9921"/>
            </a:stretch>
          </a:blipFill>
        </p:spPr>
      </p:sp>
    </p:spTree>
    <p:extLst>
      <p:ext uri="{BB962C8B-B14F-4D97-AF65-F5344CB8AC3E}">
        <p14:creationId xmlns:p14="http://schemas.microsoft.com/office/powerpoint/2010/main" val="176600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D3E2-6D21-9BF2-B1AA-02593278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14" y="292936"/>
            <a:ext cx="6239786" cy="94684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Main Functions of the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843F7-54CD-0318-8647-D528DBB5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smtClean="0"/>
              <a:t>d) </a:t>
            </a:r>
            <a:r>
              <a:rPr lang="en-GB" b="1" dirty="0"/>
              <a:t>Book Detail Page</a:t>
            </a:r>
          </a:p>
          <a:p>
            <a:r>
              <a:rPr lang="en-GB" b="1" dirty="0"/>
              <a:t>Full info: cover, title, author, genre, year, publisher, pages, summary</a:t>
            </a:r>
          </a:p>
          <a:p>
            <a:r>
              <a:rPr lang="en-GB" b="1" dirty="0" smtClean="0"/>
              <a:t>Layout: 2 columns (left image, right details)</a:t>
            </a:r>
            <a:endParaRPr lang="en-GB" b="1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72389" y="2700793"/>
            <a:ext cx="5681739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1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D3E2-6D21-9BF2-B1AA-02593278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14" y="292936"/>
            <a:ext cx="6215723" cy="94684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Main Functions of the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843F7-54CD-0318-8647-D528DBB5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smtClean="0"/>
              <a:t>e) </a:t>
            </a:r>
            <a:r>
              <a:rPr lang="en-GB" b="1" dirty="0"/>
              <a:t>Search Page</a:t>
            </a:r>
          </a:p>
          <a:p>
            <a:r>
              <a:rPr lang="en-GB" b="1" dirty="0"/>
              <a:t>Search books by title or author (header bar)</a:t>
            </a:r>
          </a:p>
          <a:p>
            <a:r>
              <a:rPr lang="en-GB" b="1" dirty="0"/>
              <a:t>Results shown as list, similar to book list page</a:t>
            </a:r>
          </a:p>
        </p:txBody>
      </p:sp>
      <p:pic>
        <p:nvPicPr>
          <p:cNvPr id="5" name="Picture 4" descr="C:\Users\ADMIN\Pictures\Screenshots\Screenshot 2026-05-15 081322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9"/>
          <a:stretch/>
        </p:blipFill>
        <p:spPr bwMode="auto">
          <a:xfrm>
            <a:off x="1383632" y="3019926"/>
            <a:ext cx="6913338" cy="261847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1000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D3E2-6D21-9BF2-B1AA-02593278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14" y="292936"/>
            <a:ext cx="6432291" cy="94684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Main Functions of the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843F7-54CD-0318-8647-D528DBB52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013" y="1239776"/>
            <a:ext cx="7057933" cy="1721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smtClean="0"/>
              <a:t>f) </a:t>
            </a:r>
            <a:r>
              <a:rPr lang="en-GB" b="1" dirty="0"/>
              <a:t>Login/Register Page</a:t>
            </a:r>
          </a:p>
          <a:p>
            <a:r>
              <a:rPr lang="en-GB" b="1" dirty="0"/>
              <a:t>Tabs: switch between login &amp; register</a:t>
            </a:r>
          </a:p>
          <a:p>
            <a:r>
              <a:rPr lang="en-GB" b="1" dirty="0"/>
              <a:t>Login: Email/Username, Password, Remember, Forgot link</a:t>
            </a:r>
          </a:p>
          <a:p>
            <a:r>
              <a:rPr lang="en-GB" b="1" dirty="0"/>
              <a:t>Register: Name, Email, Password, Confirm, </a:t>
            </a:r>
            <a:r>
              <a:rPr lang="en-GB" b="1" dirty="0" smtClean="0"/>
              <a:t>Terms</a:t>
            </a:r>
            <a:endParaRPr lang="en-GB" b="1" dirty="0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890337" y="2960814"/>
            <a:ext cx="3056021" cy="3417567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948" y="2960814"/>
            <a:ext cx="3945348" cy="325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8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ACE0-929D-1F6C-2536-AC4E2E96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BFCF-64F0-7E59-68E4-6AA689F3D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486" y="365892"/>
            <a:ext cx="7200900" cy="85725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IV. System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Design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1075B-F7D9-1C64-78B1-98E9C1BA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784091"/>
              </p:ext>
            </p:extLst>
          </p:nvPr>
        </p:nvGraphicFramePr>
        <p:xfrm>
          <a:off x="1127539" y="2017873"/>
          <a:ext cx="7096718" cy="4027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8359">
                  <a:extLst>
                    <a:ext uri="{9D8B030D-6E8A-4147-A177-3AD203B41FA5}">
                      <a16:colId xmlns:a16="http://schemas.microsoft.com/office/drawing/2014/main" val="2018624723"/>
                    </a:ext>
                  </a:extLst>
                </a:gridCol>
                <a:gridCol w="3548359">
                  <a:extLst>
                    <a:ext uri="{9D8B030D-6E8A-4147-A177-3AD203B41FA5}">
                      <a16:colId xmlns:a16="http://schemas.microsoft.com/office/drawing/2014/main" val="3346524294"/>
                    </a:ext>
                  </a:extLst>
                </a:gridCol>
              </a:tblGrid>
              <a:tr h="701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b="1" dirty="0" smtClean="0"/>
                        <a:t> 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289757"/>
                  </a:ext>
                </a:extLst>
              </a:tr>
              <a:tr h="3325908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dirty="0" smtClean="0">
                          <a:solidFill>
                            <a:schemeClr val="tx1"/>
                          </a:solidFill>
                        </a:rPr>
                        <a:t>View book list by category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dirty="0" smtClean="0">
                          <a:solidFill>
                            <a:schemeClr val="tx1"/>
                          </a:solidFill>
                        </a:rPr>
                        <a:t>Search by title/author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dirty="0" smtClean="0">
                          <a:solidFill>
                            <a:schemeClr val="tx1"/>
                          </a:solidFill>
                        </a:rPr>
                        <a:t>View book details (title, author, year)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dirty="0" smtClean="0">
                          <a:solidFill>
                            <a:schemeClr val="tx1"/>
                          </a:solidFill>
                        </a:rPr>
                        <a:t>Manage </a:t>
                      </a:r>
                      <a:r>
                        <a:rPr lang="en-GB" sz="2000" b="0" dirty="0" smtClean="0">
                          <a:solidFill>
                            <a:schemeClr val="tx1"/>
                          </a:solidFill>
                        </a:rPr>
                        <a:t>data (JavaScript Object)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dirty="0" smtClean="0">
                          <a:solidFill>
                            <a:schemeClr val="tx1"/>
                          </a:solidFill>
                        </a:rPr>
                        <a:t>Real-time processing, no reload</a:t>
                      </a:r>
                      <a:endParaRPr lang="en-GB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 smtClean="0"/>
                        <a:t>Performance: load ≤ 3s UI: friendly, responsive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 smtClean="0"/>
                        <a:t>Compatibility: major browsers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 smtClean="0"/>
                        <a:t>Scalability: easy to add features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246314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101845" y="2192844"/>
            <a:ext cx="3044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Non-Functional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3486" y="2192844"/>
            <a:ext cx="3122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Functional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987" y="1355593"/>
            <a:ext cx="4714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115980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EB46-5F23-1179-72DC-D20F62F1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0897-DD56-D22C-AE89-C1E82280F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1185"/>
            <a:ext cx="3856382" cy="653283"/>
          </a:xfrm>
        </p:spPr>
        <p:txBody>
          <a:bodyPr>
            <a:normAutofit/>
          </a:bodyPr>
          <a:lstStyle/>
          <a:p>
            <a:pPr marL="342900" indent="-342900" algn="ctr" defTabSz="9144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Design</a:t>
            </a:r>
            <a:endParaRPr 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2E4C4-6849-5095-9A02-3522F59C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653943"/>
              </p:ext>
            </p:extLst>
          </p:nvPr>
        </p:nvGraphicFramePr>
        <p:xfrm>
          <a:off x="609424" y="2108884"/>
          <a:ext cx="7905926" cy="4180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6482">
                  <a:extLst>
                    <a:ext uri="{9D8B030D-6E8A-4147-A177-3AD203B41FA5}">
                      <a16:colId xmlns:a16="http://schemas.microsoft.com/office/drawing/2014/main" val="91153818"/>
                    </a:ext>
                  </a:extLst>
                </a:gridCol>
                <a:gridCol w="1976482">
                  <a:extLst>
                    <a:ext uri="{9D8B030D-6E8A-4147-A177-3AD203B41FA5}">
                      <a16:colId xmlns:a16="http://schemas.microsoft.com/office/drawing/2014/main" val="4063532088"/>
                    </a:ext>
                  </a:extLst>
                </a:gridCol>
                <a:gridCol w="3952962">
                  <a:extLst>
                    <a:ext uri="{9D8B030D-6E8A-4147-A177-3AD203B41FA5}">
                      <a16:colId xmlns:a16="http://schemas.microsoft.com/office/drawing/2014/main" val="1130088355"/>
                    </a:ext>
                  </a:extLst>
                </a:gridCol>
              </a:tblGrid>
              <a:tr h="4069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Attributes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Data Types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Description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49813116"/>
                  </a:ext>
                </a:extLst>
              </a:tr>
              <a:tr h="688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 dirty="0">
                          <a:effectLst/>
                          <a:latin typeface="+mj-lt"/>
                        </a:rPr>
                        <a:t>id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 dirty="0">
                          <a:effectLst/>
                          <a:latin typeface="+mj-lt"/>
                        </a:rPr>
                        <a:t>Number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Unique Identifier of Book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94506721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title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 dirty="0">
                          <a:effectLst/>
                          <a:latin typeface="+mj-lt"/>
                        </a:rPr>
                        <a:t>String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Book Title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19834053"/>
                  </a:ext>
                </a:extLst>
              </a:tr>
              <a:tr h="688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authorId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Number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Author ID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16567506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authorName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String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Author Name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738258372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category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String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Book Category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83517307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year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Number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Publication Year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90328735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publisher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 dirty="0">
                          <a:effectLst/>
                          <a:latin typeface="+mj-lt"/>
                        </a:rPr>
                        <a:t>String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Publisher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64196589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424" y="1708774"/>
            <a:ext cx="3747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 Object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80614" y="539223"/>
            <a:ext cx="63450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System Analysis and Design</a:t>
            </a:r>
          </a:p>
        </p:txBody>
      </p:sp>
    </p:spTree>
    <p:extLst>
      <p:ext uri="{BB962C8B-B14F-4D97-AF65-F5344CB8AC3E}">
        <p14:creationId xmlns:p14="http://schemas.microsoft.com/office/powerpoint/2010/main" val="292193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EB46-5F23-1179-72DC-D20F62F1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0897-DD56-D22C-AE89-C1E82280F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031" y="576090"/>
            <a:ext cx="6368968" cy="653283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System Analysis and </a:t>
            </a:r>
            <a:r>
              <a:rPr lang="en-GB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GB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2E4C4-6849-5095-9A02-3522F59C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772652"/>
              </p:ext>
            </p:extLst>
          </p:nvPr>
        </p:nvGraphicFramePr>
        <p:xfrm>
          <a:off x="565485" y="2186087"/>
          <a:ext cx="7949865" cy="41147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7467">
                  <a:extLst>
                    <a:ext uri="{9D8B030D-6E8A-4147-A177-3AD203B41FA5}">
                      <a16:colId xmlns:a16="http://schemas.microsoft.com/office/drawing/2014/main" val="3139366726"/>
                    </a:ext>
                  </a:extLst>
                </a:gridCol>
                <a:gridCol w="1987467">
                  <a:extLst>
                    <a:ext uri="{9D8B030D-6E8A-4147-A177-3AD203B41FA5}">
                      <a16:colId xmlns:a16="http://schemas.microsoft.com/office/drawing/2014/main" val="2171338015"/>
                    </a:ext>
                  </a:extLst>
                </a:gridCol>
                <a:gridCol w="3974931">
                  <a:extLst>
                    <a:ext uri="{9D8B030D-6E8A-4147-A177-3AD203B41FA5}">
                      <a16:colId xmlns:a16="http://schemas.microsoft.com/office/drawing/2014/main" val="2192183422"/>
                    </a:ext>
                  </a:extLst>
                </a:gridCol>
              </a:tblGrid>
              <a:tr h="5439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Attributes</a:t>
                      </a:r>
                      <a:endParaRPr lang="en-GB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Data Types</a:t>
                      </a:r>
                      <a:endParaRPr lang="en-GB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Description</a:t>
                      </a:r>
                      <a:endParaRPr lang="en-GB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5131732"/>
                  </a:ext>
                </a:extLst>
              </a:tr>
              <a:tr h="5439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 dirty="0">
                          <a:effectLst/>
                          <a:latin typeface="+mj-lt"/>
                        </a:rPr>
                        <a:t>Id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Number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 dirty="0" smtClean="0">
                          <a:effectLst/>
                          <a:latin typeface="+mj-lt"/>
                        </a:rPr>
                        <a:t>Author Unique Identifier</a:t>
                      </a: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558179644"/>
                  </a:ext>
                </a:extLst>
              </a:tr>
              <a:tr h="5439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name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String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Author Name</a:t>
                      </a:r>
                      <a:endParaRPr lang="en-GB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027877669"/>
                  </a:ext>
                </a:extLst>
              </a:tr>
              <a:tr h="9695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years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 dirty="0">
                          <a:effectLst/>
                          <a:latin typeface="+mj-lt"/>
                        </a:rPr>
                        <a:t>String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Birth–Death Years (e.g., 1936–2018)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81767799"/>
                  </a:ext>
                </a:extLst>
              </a:tr>
              <a:tr h="5439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avatar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String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 dirty="0" smtClean="0">
                          <a:effectLst/>
                          <a:latin typeface="+mj-lt"/>
                        </a:rPr>
                        <a:t>Author Image Path</a:t>
                      </a: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18660964"/>
                  </a:ext>
                </a:extLst>
              </a:tr>
              <a:tr h="9695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booksCount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2400">
                          <a:effectLst/>
                          <a:latin typeface="+mj-lt"/>
                        </a:rPr>
                        <a:t>Number</a:t>
                      </a:r>
                      <a:endParaRPr lang="en-GB" sz="240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smtClean="0"/>
                        <a:t>Number of Works in the System</a:t>
                      </a:r>
                      <a:endParaRPr lang="en-GB" sz="2400" dirty="0">
                        <a:effectLst/>
                        <a:latin typeface="+mj-lt"/>
                        <a:ea typeface="SimSun" panose="02010600030101010101" pitchFamily="2" charset="-122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1482233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85150897-DD56-D22C-AE89-C1E82280F685}"/>
              </a:ext>
            </a:extLst>
          </p:cNvPr>
          <p:cNvSpPr txBox="1">
            <a:spLocks/>
          </p:cNvSpPr>
          <p:nvPr/>
        </p:nvSpPr>
        <p:spPr>
          <a:xfrm>
            <a:off x="0" y="1217768"/>
            <a:ext cx="3856382" cy="653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ctr" defTabSz="9144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Design</a:t>
            </a:r>
            <a:endParaRPr 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5485" y="1773319"/>
            <a:ext cx="1969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6554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21D7A-06CD-2473-C5F4-391814899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CEAC-2FEA-55BA-9F89-340FE7E6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608" y="458208"/>
            <a:ext cx="4943391" cy="85725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6BB26-F8CB-AFD4-819B-5E003A573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14</a:t>
            </a:fld>
            <a:endParaRPr lang="en-US"/>
          </a:p>
        </p:txBody>
      </p:sp>
      <p:sp>
        <p:nvSpPr>
          <p:cNvPr id="6" name="Freeform 7"/>
          <p:cNvSpPr>
            <a:spLocks noGrp="1"/>
          </p:cNvSpPr>
          <p:nvPr>
            <p:ph idx="1"/>
          </p:nvPr>
        </p:nvSpPr>
        <p:spPr>
          <a:xfrm>
            <a:off x="670134" y="1888957"/>
            <a:ext cx="2734804" cy="1792706"/>
          </a:xfrm>
          <a:custGeom>
            <a:avLst/>
            <a:gdLst/>
            <a:ahLst/>
            <a:cxnLst/>
            <a:rect l="l" t="t" r="r" b="b"/>
            <a:pathLst>
              <a:path w="5547020" h="3120199">
                <a:moveTo>
                  <a:pt x="0" y="0"/>
                </a:moveTo>
                <a:lnTo>
                  <a:pt x="5547020" y="0"/>
                </a:lnTo>
                <a:lnTo>
                  <a:pt x="5547020" y="3120198"/>
                </a:lnTo>
                <a:lnTo>
                  <a:pt x="0" y="3120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indent="0">
              <a:buNone/>
            </a:pPr>
            <a:r>
              <a:rPr lang="en-GB" dirty="0"/>
              <a:t>.</a:t>
            </a:r>
          </a:p>
        </p:txBody>
      </p:sp>
      <p:sp>
        <p:nvSpPr>
          <p:cNvPr id="9" name="Freeform 8"/>
          <p:cNvSpPr/>
          <p:nvPr/>
        </p:nvSpPr>
        <p:spPr>
          <a:xfrm>
            <a:off x="4632157" y="1888957"/>
            <a:ext cx="3675701" cy="1792706"/>
          </a:xfrm>
          <a:custGeom>
            <a:avLst/>
            <a:gdLst/>
            <a:ahLst/>
            <a:cxnLst/>
            <a:rect l="l" t="t" r="r" b="b"/>
            <a:pathLst>
              <a:path w="6001137" h="3435651">
                <a:moveTo>
                  <a:pt x="0" y="0"/>
                </a:moveTo>
                <a:lnTo>
                  <a:pt x="6001137" y="0"/>
                </a:lnTo>
                <a:lnTo>
                  <a:pt x="6001137" y="3435651"/>
                </a:lnTo>
                <a:lnTo>
                  <a:pt x="0" y="343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9"/>
          <p:cNvSpPr/>
          <p:nvPr/>
        </p:nvSpPr>
        <p:spPr>
          <a:xfrm>
            <a:off x="2485095" y="4142879"/>
            <a:ext cx="3802416" cy="1924892"/>
          </a:xfrm>
          <a:custGeom>
            <a:avLst/>
            <a:gdLst/>
            <a:ahLst/>
            <a:cxnLst/>
            <a:rect l="l" t="t" r="r" b="b"/>
            <a:pathLst>
              <a:path w="7084081" h="3984795">
                <a:moveTo>
                  <a:pt x="0" y="0"/>
                </a:moveTo>
                <a:lnTo>
                  <a:pt x="7084081" y="0"/>
                </a:lnTo>
                <a:lnTo>
                  <a:pt x="7084081" y="3984795"/>
                </a:lnTo>
                <a:lnTo>
                  <a:pt x="0" y="3984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442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B8D9A-043E-89A9-BA39-14F8A516B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7C25-B74A-551E-519B-E983E592B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290" y="659882"/>
            <a:ext cx="7904206" cy="857250"/>
          </a:xfrm>
        </p:spPr>
        <p:txBody>
          <a:bodyPr>
            <a:normAutofit fontScale="90000"/>
          </a:bodyPr>
          <a:lstStyle/>
          <a:p>
            <a:pPr algn="ctr" defTabSz="914400">
              <a:spcBef>
                <a:spcPts val="1000"/>
              </a:spcBef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VI. Limitations and Future Development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50D19-5EF2-F33A-6B20-45CBCF3A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15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F64D5-7717-5FCE-8F27-E0EF72A08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80" y="1663303"/>
            <a:ext cx="8325016" cy="48661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81077" y="2078314"/>
            <a:ext cx="688604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Static data, no back-end → cannot dynamically add new books.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Login is only simulated → no real authentication.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Local Storage data is lost when browser cache is cleared.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58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B8D9A-043E-89A9-BA39-14F8A516B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7C25-B74A-551E-519B-E983E592B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290" y="659882"/>
            <a:ext cx="7904206" cy="857250"/>
          </a:xfrm>
        </p:spPr>
        <p:txBody>
          <a:bodyPr>
            <a:normAutofit fontScale="90000"/>
          </a:bodyPr>
          <a:lstStyle/>
          <a:p>
            <a:pPr algn="ctr" defTabSz="914400">
              <a:spcBef>
                <a:spcPts val="1000"/>
              </a:spcBef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VI. Limitations and Future Development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50D19-5EF2-F33A-6B20-45CBCF3A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16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F64D5-7717-5FCE-8F27-E0EF72A08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71981"/>
            <a:ext cx="8297186" cy="43254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 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3735" y="2095980"/>
            <a:ext cx="785759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 (Node.js/MongoDB or PHP/MySQL) for dynamic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real login with JWT authentication.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&amp; ratings stored in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Google Books API to expand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smart book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mobile app (React Native/Flutter).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online reading for free works.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03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17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051384" y="2585256"/>
            <a:ext cx="63165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2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GB" sz="7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5010" y="5328658"/>
            <a:ext cx="48246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Student’s Full Name: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Nguyễn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Thị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Trang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ID: 25CEB061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Class: 25CE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Major: Computer Engineering Technology </a:t>
            </a:r>
          </a:p>
        </p:txBody>
      </p:sp>
    </p:spTree>
    <p:extLst>
      <p:ext uri="{BB962C8B-B14F-4D97-AF65-F5344CB8AC3E}">
        <p14:creationId xmlns:p14="http://schemas.microsoft.com/office/powerpoint/2010/main" val="48219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ava-Chapter 1 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Java-Chapter 1 4</Template>
  <TotalTime>1375</TotalTime>
  <Words>654</Words>
  <Application>Microsoft Office PowerPoint</Application>
  <PresentationFormat>On-screen Show (4:3)</PresentationFormat>
  <Paragraphs>155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SimSun</vt:lpstr>
      <vt:lpstr>Arial</vt:lpstr>
      <vt:lpstr>Calibri</vt:lpstr>
      <vt:lpstr>Calibri Light</vt:lpstr>
      <vt:lpstr>Times New Roman</vt:lpstr>
      <vt:lpstr>Times New Roman Bold</vt:lpstr>
      <vt:lpstr>Wingdings</vt:lpstr>
      <vt:lpstr>Java-Chapter 1 4</vt:lpstr>
      <vt:lpstr>PowerPoint Presentation</vt:lpstr>
      <vt:lpstr>OPERATING SYSTEMS</vt:lpstr>
      <vt:lpstr>Reason for Topic Selection</vt:lpstr>
      <vt:lpstr>II. Research Objectives</vt:lpstr>
      <vt:lpstr>III. Main Functions of the System</vt:lpstr>
      <vt:lpstr>III. Main Functions of the System</vt:lpstr>
      <vt:lpstr>III. Main Functions of the System</vt:lpstr>
      <vt:lpstr>III. Main Functions of the System</vt:lpstr>
      <vt:lpstr>III. Main Functions of the System</vt:lpstr>
      <vt:lpstr>III. Main Functions of the System</vt:lpstr>
      <vt:lpstr>IV. System Analysis and Design</vt:lpstr>
      <vt:lpstr>Data Structure Design</vt:lpstr>
      <vt:lpstr>IV. System Analysis and Design</vt:lpstr>
      <vt:lpstr>V. Technologies Used</vt:lpstr>
      <vt:lpstr>VI. Limitations and Future Development </vt:lpstr>
      <vt:lpstr>VI. Limitations and Future Development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vhchuong</dc:creator>
  <cp:lastModifiedBy>ADMIN</cp:lastModifiedBy>
  <cp:revision>157</cp:revision>
  <dcterms:created xsi:type="dcterms:W3CDTF">2017-05-20T05:08:45Z</dcterms:created>
  <dcterms:modified xsi:type="dcterms:W3CDTF">2026-06-16T10:26:05Z</dcterms:modified>
</cp:coreProperties>
</file>